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5" r:id="rId4"/>
    <p:sldId id="261" r:id="rId5"/>
    <p:sldId id="262" r:id="rId6"/>
    <p:sldId id="263" r:id="rId7"/>
    <p:sldId id="266" r:id="rId8"/>
    <p:sldId id="267" r:id="rId9"/>
    <p:sldId id="268" r:id="rId10"/>
    <p:sldId id="269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7433-1715-1D65-6FB8-F1210E9CE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AC505-3CA4-E4B3-1C65-8F611A84F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8346C-9EBE-16BA-4310-219471DF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5752B-5A08-E83E-89D4-CCA186F3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3C831-37B7-03DF-28A7-BC0B0117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90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DD90-8263-60BB-5E8C-80F9ED80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E383-0564-4022-EDA3-03EA86916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00B8C-7553-E4D0-32EB-520D0062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F7E4-6D5A-02DA-C90E-2F144DB9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E5334-086C-AD4F-0C48-5DA9FAD4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72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FDB83-2BB7-AD6E-5BB0-EA96B0926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5B59B-9359-14B7-37A4-9E3E21702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2482D-1590-914A-41D8-B8AF2C7D4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690DC-27BC-4BB9-11B8-35B9C654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D8241-E779-8B90-107B-5A173C54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699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61F6-A4D8-1867-AFD0-8739CAB9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65E48-2962-2BA5-ED5A-69ADCAE41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693B1-3628-78C9-9674-CF041B2A0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CC4F3-1828-D0F1-AD24-5F360D75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FA36E-4B7A-AA11-332F-F69B73C1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3E6F6-A34C-6245-5591-1D8B1432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50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32928-0E76-342D-8070-A30FD13C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1636F-86DF-0724-0863-436B26311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036F4-869A-FE0B-5543-5055EADBF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7DC50-9962-2E17-F4E5-9B0C94C29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41B75-F040-6718-BF30-E3AD658B8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5D8D7B-01AE-EC1F-AA47-D827C80D9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DE27C-1D46-A28E-AEAE-A71D078E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1A2CD7-9448-ECA5-4754-EC5982F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79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A06A-120D-42D6-B5CF-304B4AEEB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19636-F90D-66F4-7676-53894B199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D3913-F425-BBCF-8EAE-1610182A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AED0E-A515-8E65-9FA8-74B0FADE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45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4D0E1-A078-5CEA-0982-5FA483B1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3D22B-2966-44D7-A620-1D6D7381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30DDC-3D84-CD29-A84F-C687F1F55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44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C089-ECC2-CA62-9610-BF41B9139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9E476-4DE6-77D9-CBF0-3D70643F6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2E9BB-CF0F-2F73-D090-D6D5CD623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27E20-750E-49C1-B234-4A13D435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9EBF3-6BC9-BB02-0D32-E2206173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DD020-2DC0-455C-A685-6BD1C2CCF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01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F536-9FB3-EC7F-F6D7-DD3314B0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34460-8411-D6BF-7820-E83FA845D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1256C-CBC2-E70A-F429-59B89E05E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5398E-0839-DE8F-FD5B-8C414A2A3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52172-A855-C106-6AD7-063A1D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7742-FFD0-DA3C-E6BB-6E4CAE38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46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270F-2630-4A62-219B-DE19BA04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4B31C-2FC9-A506-969B-74DC011E9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6BD4-1846-43E0-992C-7EFD33B0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F7D43-1E55-BD7A-364D-3F931CD4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164D7-BB92-005D-502E-7EC11BF8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28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021003-5440-E698-9490-D24E158CC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88EA-C734-07A9-21AF-CA90DB346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143CC-9A98-3629-5641-55EDB543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49027-6606-3253-C54A-5FA8AB7A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05312-ACE1-BD3E-AE9A-916BB8AA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5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D85C2-D316-CEAA-FE82-3AA34DAB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AABD9-7FD9-8A24-EE4D-BA9C81029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A2AA7-1F43-8296-6ED2-2DFD5D003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84999-9661-428D-A226-754F5EDA001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BACED-8694-7805-8E68-2D0478399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4F38D-9B74-FC4E-06C2-9F4AC9283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BAC36-5F81-48EB-9BA3-9505ED686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4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96353F1C-036A-6E0E-10E8-1ACE37437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341BC3-9426-0891-4221-4A4A3B99C844}"/>
              </a:ext>
            </a:extLst>
          </p:cNvPr>
          <p:cNvSpPr txBox="1"/>
          <p:nvPr/>
        </p:nvSpPr>
        <p:spPr>
          <a:xfrm>
            <a:off x="1844333" y="2144686"/>
            <a:ext cx="9114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Method for Logarithmic Recurrence Analysis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DBB14-8ADF-BF6D-40E9-9EBA45648ABD}"/>
              </a:ext>
            </a:extLst>
          </p:cNvPr>
          <p:cNvSpPr txBox="1"/>
          <p:nvPr/>
        </p:nvSpPr>
        <p:spPr>
          <a:xfrm>
            <a:off x="2227005" y="3520754"/>
            <a:ext cx="7737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CSA0620 – Design and Analysis of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80B9C-7047-AC5A-2E28-DB7D3401034E}"/>
              </a:ext>
            </a:extLst>
          </p:cNvPr>
          <p:cNvSpPr txBox="1"/>
          <p:nvPr/>
        </p:nvSpPr>
        <p:spPr>
          <a:xfrm>
            <a:off x="8347587" y="4532670"/>
            <a:ext cx="36379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Presented By:-</a:t>
            </a:r>
            <a:endParaRPr lang="en-IN" sz="2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Sameer Ahmed G - 192421154 </a:t>
            </a:r>
          </a:p>
          <a:p>
            <a:endParaRPr lang="en-IN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6D7E74-327E-86BA-5815-99AD5CE84805}"/>
              </a:ext>
            </a:extLst>
          </p:cNvPr>
          <p:cNvSpPr txBox="1"/>
          <p:nvPr/>
        </p:nvSpPr>
        <p:spPr>
          <a:xfrm>
            <a:off x="934063" y="4750589"/>
            <a:ext cx="266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 Sairam</a:t>
            </a:r>
          </a:p>
        </p:txBody>
      </p:sp>
    </p:spTree>
    <p:extLst>
      <p:ext uri="{BB962C8B-B14F-4D97-AF65-F5344CB8AC3E}">
        <p14:creationId xmlns:p14="http://schemas.microsoft.com/office/powerpoint/2010/main" val="146887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0CA4-41A4-97F5-D7CB-F94EFE45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72ED0E44-BC4B-89F5-F1BF-98C97F53E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8AF360-A583-9A99-D0DB-1B7B5A594B5A}"/>
              </a:ext>
            </a:extLst>
          </p:cNvPr>
          <p:cNvSpPr txBox="1"/>
          <p:nvPr/>
        </p:nvSpPr>
        <p:spPr>
          <a:xfrm>
            <a:off x="3873907" y="1627189"/>
            <a:ext cx="4444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9BEF9A-7DC2-D4C2-6647-A913A9CCF7BB}"/>
                  </a:ext>
                </a:extLst>
              </p:cNvPr>
              <p:cNvSpPr txBox="1"/>
              <p:nvPr/>
            </p:nvSpPr>
            <p:spPr>
              <a:xfrm>
                <a:off x="705849" y="2401082"/>
                <a:ext cx="10780295" cy="3730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 divide-and-conquer algorithms are represented using recurrence relations that describe the execution time recursively.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given recurrence, </a:t>
                </a:r>
                <a14:m>
                  <m:oMath xmlns:m="http://schemas.openxmlformats.org/officeDocument/2006/math">
                    <m:r>
                      <a:rPr lang="en-IN" sz="2000" i="1"/>
                      <m:t>𝑇</m:t>
                    </m:r>
                    <m:d>
                      <m:dPr>
                        <m:ctrlPr>
                          <a:rPr lang="en-IN" sz="2000" i="1"/>
                        </m:ctrlPr>
                      </m:dPr>
                      <m:e>
                        <m:r>
                          <a:rPr lang="en-IN" sz="2000" i="1"/>
                          <m:t>𝑛</m:t>
                        </m:r>
                      </m:e>
                    </m:d>
                    <m:r>
                      <a:rPr lang="en-IN" sz="2000"/>
                      <m:t>=</m:t>
                    </m:r>
                    <m:r>
                      <a:rPr lang="en-IN" sz="2000" i="1"/>
                      <m:t>𝑇</m:t>
                    </m:r>
                    <m:d>
                      <m:dPr>
                        <m:ctrlPr>
                          <a:rPr lang="en-IN" sz="2000" i="1"/>
                        </m:ctrlPr>
                      </m:dPr>
                      <m:e>
                        <m:r>
                          <a:rPr lang="en-IN" sz="2000" i="1"/>
                          <m:t>𝑛</m:t>
                        </m:r>
                        <m:r>
                          <a:rPr lang="en-IN" sz="2000"/>
                          <m:t>/2</m:t>
                        </m:r>
                      </m:e>
                    </m:d>
                    <m:r>
                      <a:rPr lang="en-IN" sz="2000"/>
                      <m:t>+</m:t>
                    </m:r>
                    <m:func>
                      <m:funcPr>
                        <m:ctrlPr>
                          <a:rPr lang="en-IN" sz="20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000"/>
                          <m:t>log</m:t>
                        </m:r>
                      </m:fName>
                      <m:e>
                        <m:r>
                          <a:rPr lang="en-IN" sz="2000" i="1"/>
                          <m:t>𝑛</m:t>
                        </m:r>
                      </m:e>
                    </m:func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reduces the input size by half while performing logarithmic work at each level.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objective is to solve the recurrence using the substitution method by expanding it step by step.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expansion should be mathematically justified until the recurrence reaches its base condition.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final goal is to derive the asymptotic time complexity and interpret the efficiency of the algorithm.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9BEF9A-7DC2-D4C2-6647-A913A9CCF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49" y="2401082"/>
                <a:ext cx="10780295" cy="3730317"/>
              </a:xfrm>
              <a:prstGeom prst="rect">
                <a:avLst/>
              </a:prstGeom>
              <a:blipFill>
                <a:blip r:embed="rId3"/>
                <a:stretch>
                  <a:fillRect l="-509" b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7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83C93B00-B828-EFF1-8F0D-D9DAACC46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A985BF-19DF-E21B-A442-17132585B2E5}"/>
              </a:ext>
            </a:extLst>
          </p:cNvPr>
          <p:cNvSpPr txBox="1"/>
          <p:nvPr/>
        </p:nvSpPr>
        <p:spPr>
          <a:xfrm>
            <a:off x="1224116" y="2345275"/>
            <a:ext cx="9743768" cy="419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substitution method solves a recurrence by repeatedly replacing the recursive term with its expanded form.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recursive call reduces the problem size from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creating a sequence of smaller subproblems.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recursive level, an additional computational cost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incurred.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recursive expansion continues until the input size becomes one, which serves as the base case.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accumulated cost of all recursive levels is simplified using summation formulas to determine the overall complexity.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FACAE-B851-CC67-D1C6-008C49C8B4B7}"/>
              </a:ext>
            </a:extLst>
          </p:cNvPr>
          <p:cNvSpPr txBox="1"/>
          <p:nvPr/>
        </p:nvSpPr>
        <p:spPr>
          <a:xfrm>
            <a:off x="3718922" y="1599285"/>
            <a:ext cx="4754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OVERVIEW</a:t>
            </a:r>
          </a:p>
        </p:txBody>
      </p:sp>
    </p:spTree>
    <p:extLst>
      <p:ext uri="{BB962C8B-B14F-4D97-AF65-F5344CB8AC3E}">
        <p14:creationId xmlns:p14="http://schemas.microsoft.com/office/powerpoint/2010/main" val="1122415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D7B1A-4104-1E6E-2483-280D4DEA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53932EB4-FA3D-390A-5261-DFA012E43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77BC10-8236-9F11-2B2C-650833C9E06A}"/>
                  </a:ext>
                </a:extLst>
              </p:cNvPr>
              <p:cNvSpPr txBox="1"/>
              <p:nvPr/>
            </p:nvSpPr>
            <p:spPr>
              <a:xfrm>
                <a:off x="1419734" y="1542126"/>
                <a:ext cx="9527458" cy="5154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/ PSEUDOCODE</a:t>
                </a:r>
              </a:p>
              <a:p>
                <a:pPr algn="ctr">
                  <a:lnSpc>
                    <a:spcPct val="150000"/>
                  </a:lnSpc>
                  <a:buNone/>
                </a:pPr>
                <a:endParaRPr lang="en-I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Solve(n)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if n == 1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return c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else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return Solve(n/2) + log(n)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case occurs when </a:t>
                </a:r>
                <a14:m>
                  <m:oMath xmlns:m="http://schemas.openxmlformats.org/officeDocument/2006/math">
                    <m:r>
                      <a:rPr lang="en-IN" sz="2000" i="1"/>
                      <m:t>𝑛</m:t>
                    </m:r>
                    <m:r>
                      <a:rPr lang="en-IN" sz="2000"/>
                      <m:t>=1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recursive call halves the input size.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Additional work per call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0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000"/>
                          <m:t>log</m:t>
                        </m:r>
                      </m:fName>
                      <m:e>
                        <m:r>
                          <a:rPr lang="en-IN" sz="2000" i="1"/>
                          <m:t>𝑛</m:t>
                        </m:r>
                      </m:e>
                    </m:func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Expansion continues until the recursion terminates.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Complexity is obtained by summing all logarithmic costs. </a:t>
                </a:r>
              </a:p>
              <a:p>
                <a:pPr>
                  <a:lnSpc>
                    <a:spcPct val="150000"/>
                  </a:lnSpc>
                  <a:buNone/>
                </a:pPr>
                <a:endParaRPr lang="en-I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77BC10-8236-9F11-2B2C-650833C9E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34" y="1542126"/>
                <a:ext cx="9527458" cy="5154744"/>
              </a:xfrm>
              <a:prstGeom prst="rect">
                <a:avLst/>
              </a:prstGeom>
              <a:blipFill>
                <a:blip r:embed="rId3"/>
                <a:stretch>
                  <a:fillRect l="-7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64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EC02-ACE3-E473-6244-5E152992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A254F3D4-F89A-3EBB-66D7-AF856AB0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E53C75-FDA0-8F00-6D83-2ABE331CCD42}"/>
              </a:ext>
            </a:extLst>
          </p:cNvPr>
          <p:cNvSpPr txBox="1"/>
          <p:nvPr/>
        </p:nvSpPr>
        <p:spPr>
          <a:xfrm>
            <a:off x="835742" y="1740310"/>
            <a:ext cx="10729047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 (DRY RUN)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697063-B4E6-3D04-D819-495FCEE4550C}"/>
                  </a:ext>
                </a:extLst>
              </p:cNvPr>
              <p:cNvSpPr txBox="1"/>
              <p:nvPr/>
            </p:nvSpPr>
            <p:spPr>
              <a:xfrm>
                <a:off x="591903" y="3163822"/>
                <a:ext cx="517186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For </a:t>
                </a:r>
                <a14:m>
                  <m:oMath xmlns:m="http://schemas.openxmlformats.org/officeDocument/2006/math">
                    <m:r>
                      <a:rPr lang="en-IN" i="1"/>
                      <m:t>𝑛</m:t>
                    </m:r>
                    <m:r>
                      <a:rPr lang="en-IN"/>
                      <m:t>=16</m:t>
                    </m:r>
                  </m:oMath>
                </a14:m>
                <a:r>
                  <a:rPr lang="en-IN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16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8</m:t>
                          </m:r>
                        </m:e>
                      </m:d>
                      <m:r>
                        <a:rPr lang="en-IN"/>
                        <m:t>+4</m:t>
                      </m:r>
                    </m:oMath>
                  </m:oMathPara>
                </a14:m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8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4</m:t>
                          </m:r>
                        </m:e>
                      </m:d>
                      <m:r>
                        <a:rPr lang="en-IN"/>
                        <m:t>+3</m:t>
                      </m:r>
                    </m:oMath>
                  </m:oMathPara>
                </a14:m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4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2</m:t>
                          </m:r>
                        </m:e>
                      </m:d>
                      <m:r>
                        <a:rPr lang="en-IN"/>
                        <m:t>+2</m:t>
                      </m:r>
                    </m:oMath>
                  </m:oMathPara>
                </a14:m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2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1</m:t>
                          </m:r>
                        </m:e>
                      </m:d>
                      <m:r>
                        <a:rPr lang="en-IN"/>
                        <m:t>+1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Therefore,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16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/>
                            <m:t>1</m:t>
                          </m:r>
                        </m:e>
                      </m:d>
                      <m:r>
                        <a:rPr lang="en-IN"/>
                        <m:t>+4+3+2+1</m:t>
                      </m:r>
                    </m:oMath>
                  </m:oMathPara>
                </a14:m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/>
                        <m:t>=</m:t>
                      </m:r>
                      <m:r>
                        <a:rPr lang="en-IN" i="1"/>
                        <m:t>𝑐</m:t>
                      </m:r>
                      <m:r>
                        <a:rPr lang="en-IN"/>
                        <m:t>+10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697063-B4E6-3D04-D819-495FCEE45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03" y="3163822"/>
                <a:ext cx="5171866" cy="2585323"/>
              </a:xfrm>
              <a:prstGeom prst="rect">
                <a:avLst/>
              </a:prstGeom>
              <a:blipFill>
                <a:blip r:embed="rId3"/>
                <a:stretch>
                  <a:fillRect l="-942" t="-11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BE94A40-9D2D-E761-B8E6-CA2B2EB0C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851561"/>
              </p:ext>
            </p:extLst>
          </p:nvPr>
        </p:nvGraphicFramePr>
        <p:xfrm>
          <a:off x="5843016" y="3429000"/>
          <a:ext cx="5474208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31525">
                  <a:extLst>
                    <a:ext uri="{9D8B030D-6E8A-4147-A177-3AD203B41FA5}">
                      <a16:colId xmlns:a16="http://schemas.microsoft.com/office/drawing/2014/main" val="675115585"/>
                    </a:ext>
                  </a:extLst>
                </a:gridCol>
                <a:gridCol w="4642683">
                  <a:extLst>
                    <a:ext uri="{9D8B030D-6E8A-4147-A177-3AD203B41FA5}">
                      <a16:colId xmlns:a16="http://schemas.microsoft.com/office/drawing/2014/main" val="3499952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Expression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42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(T(n)=T(n/2)+\log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879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(=T(n/4)+\log(n/2)+\log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323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(=T(n/8)+\log(n/4)+\log(n/2)+\log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34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(=T(n/2^k)+\sum_{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=0}^{k-1}\log(n/2^i))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0063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8A928C1-DC2C-DF32-0EFA-0BE972234B98}"/>
              </a:ext>
            </a:extLst>
          </p:cNvPr>
          <p:cNvSpPr txBox="1"/>
          <p:nvPr/>
        </p:nvSpPr>
        <p:spPr>
          <a:xfrm>
            <a:off x="5843016" y="2798064"/>
            <a:ext cx="270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Expansion:</a:t>
            </a:r>
          </a:p>
        </p:txBody>
      </p:sp>
    </p:spTree>
    <p:extLst>
      <p:ext uri="{BB962C8B-B14F-4D97-AF65-F5344CB8AC3E}">
        <p14:creationId xmlns:p14="http://schemas.microsoft.com/office/powerpoint/2010/main" val="227471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77AA-4409-2819-E28B-3F8BFC1B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CF04CFE0-DAFC-0D07-C6E7-EF5A6C5FA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A57137-2D99-5185-6FB9-FC2F156007E7}"/>
              </a:ext>
            </a:extLst>
          </p:cNvPr>
          <p:cNvSpPr txBox="1"/>
          <p:nvPr/>
        </p:nvSpPr>
        <p:spPr>
          <a:xfrm>
            <a:off x="825911" y="1533832"/>
            <a:ext cx="1107112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6FD5E5-54B9-9A11-3A80-AD66F956E181}"/>
                  </a:ext>
                </a:extLst>
              </p:cNvPr>
              <p:cNvSpPr txBox="1"/>
              <p:nvPr/>
            </p:nvSpPr>
            <p:spPr>
              <a:xfrm>
                <a:off x="1419734" y="2441448"/>
                <a:ext cx="9937114" cy="3989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Recursion stops when </a:t>
                </a:r>
                <a14:m>
                  <m:oMath xmlns:m="http://schemas.openxmlformats.org/officeDocument/2006/math">
                    <m:r>
                      <a:rPr lang="en-IN" sz="2000" i="1"/>
                      <m:t>𝑛</m:t>
                    </m:r>
                    <m:r>
                      <a:rPr lang="en-IN" sz="2000"/>
                      <m:t>/</m:t>
                    </m:r>
                    <m:sSup>
                      <m:sSupPr>
                        <m:ctrlPr>
                          <a:rPr lang="en-IN" sz="2000" i="1"/>
                        </m:ctrlPr>
                      </m:sSupPr>
                      <m:e>
                        <m:r>
                          <a:rPr lang="en-IN" sz="2000"/>
                          <m:t>2</m:t>
                        </m:r>
                      </m:e>
                      <m:sup>
                        <m:r>
                          <a:rPr lang="en-IN" sz="2000" i="1"/>
                          <m:t>𝑘</m:t>
                        </m:r>
                      </m:sup>
                    </m:sSup>
                    <m:r>
                      <a:rPr lang="en-IN" sz="2000"/>
                      <m:t>=1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IN" sz="2000" i="1"/>
                      <m:t>𝑘</m:t>
                    </m:r>
                    <m:r>
                      <a:rPr lang="en-IN" sz="2000"/>
                      <m:t>=</m:t>
                    </m:r>
                    <m:func>
                      <m:funcPr>
                        <m:ctrlPr>
                          <a:rPr lang="en-IN" sz="20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000"/>
                          <m:t>log</m:t>
                        </m:r>
                      </m:fName>
                      <m:e>
                        <m:r>
                          <a:rPr lang="en-IN" sz="2000" i="1"/>
                          <m:t>𝑛</m:t>
                        </m:r>
                      </m:e>
                    </m:func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 becomes: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ctrlPr>
                            <a:rPr lang="en-IN" sz="2000"/>
                          </m:ctrlPr>
                        </m:naryPr>
                        <m:sub>
                          <m:r>
                            <a:rPr lang="en-IN" sz="2000" i="1"/>
                            <m:t>𝑖</m:t>
                          </m:r>
                          <m:r>
                            <a:rPr lang="en-IN" sz="2000"/>
                            <m:t>=0</m:t>
                          </m:r>
                        </m:sub>
                        <m:sup>
                          <m:func>
                            <m:funcPr>
                              <m:ctrlPr>
                                <a:rPr lang="en-IN" sz="20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/>
                                <m:t>log</m:t>
                              </m:r>
                            </m:fName>
                            <m:e>
                              <m:r>
                                <a:rPr lang="en-IN" sz="2000" i="1"/>
                                <m:t>𝑛</m:t>
                              </m:r>
                            </m:e>
                          </m:func>
                          <m:r>
                            <a:rPr lang="en-IN" sz="2000"/>
                            <m:t>−1</m:t>
                          </m:r>
                        </m:sup>
                        <m:e>
                          <m:r>
                            <a:rPr lang="en-IN" sz="2000"/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lang="en-IN" sz="2000" i="1"/>
                          </m:ctrlPr>
                        </m:dPr>
                        <m:e>
                          <m:func>
                            <m:funcPr>
                              <m:ctrlPr>
                                <a:rPr lang="en-IN" sz="20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/>
                                <m:t>log</m:t>
                              </m:r>
                            </m:fName>
                            <m:e>
                              <m:r>
                                <a:rPr lang="en-IN" sz="2000" i="1"/>
                                <m:t>𝑛</m:t>
                              </m:r>
                            </m:e>
                          </m:func>
                          <m:r>
                            <a:rPr lang="en-IN" sz="2000"/>
                            <m:t>−</m:t>
                          </m:r>
                          <m:r>
                            <a:rPr lang="en-IN" sz="2000" i="1"/>
                            <m:t>𝑖</m:t>
                          </m:r>
                        </m:e>
                      </m:d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simplifies to: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/>
                          </m:ctrlPr>
                        </m:fPr>
                        <m:num>
                          <m:func>
                            <m:funcPr>
                              <m:ctrlPr>
                                <a:rPr lang="en-IN" sz="2000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/>
                                <m:t>log</m:t>
                              </m:r>
                            </m:fName>
                            <m:e>
                              <m:r>
                                <a:rPr lang="en-IN" sz="2000" i="1"/>
                                <m:t>𝑛</m:t>
                              </m:r>
                            </m:e>
                          </m:func>
                          <m:d>
                            <m:dPr>
                              <m:ctrlPr>
                                <a:rPr lang="en-IN" sz="2000" i="1"/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IN" sz="2000" i="1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sz="2000"/>
                                    <m:t>log</m:t>
                                  </m:r>
                                </m:fName>
                                <m:e>
                                  <m:r>
                                    <a:rPr lang="en-IN" sz="2000" i="1"/>
                                    <m:t>𝑛</m:t>
                                  </m:r>
                                </m:e>
                              </m:func>
                              <m:r>
                                <a:rPr lang="en-IN" sz="2000"/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IN" sz="2000"/>
                            <m:t>2</m:t>
                          </m:r>
                        </m:den>
                      </m:f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Time Complexity: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2000"/>
                          </m:ctrlPr>
                        </m:borderBoxPr>
                        <m:e>
                          <m:r>
                            <a:rPr lang="en-IN" sz="2000" i="1"/>
                            <m:t>𝑇</m:t>
                          </m:r>
                          <m:d>
                            <m:dPr>
                              <m:ctrlPr>
                                <a:rPr lang="en-IN" sz="2000" i="1"/>
                              </m:ctrlPr>
                            </m:dPr>
                            <m:e>
                              <m:r>
                                <a:rPr lang="en-IN" sz="2000" i="1"/>
                                <m:t>𝑛</m:t>
                              </m:r>
                            </m:e>
                          </m:d>
                          <m:r>
                            <a:rPr lang="en-IN" sz="2000"/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2000"/>
                            <m:t>Θ</m:t>
                          </m:r>
                          <m:d>
                            <m:dPr>
                              <m:ctrlPr>
                                <a:rPr lang="en-IN" sz="2000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2000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000" i="1"/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IN" sz="2000" i="1"/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000"/>
                                            <m:t>log</m:t>
                                          </m:r>
                                        </m:fName>
                                        <m:e>
                                          <m:r>
                                            <a:rPr lang="en-IN" sz="2000" i="1"/>
                                            <m:t>𝑛</m:t>
                                          </m:r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r>
                                    <a:rPr lang="en-IN" sz="2000"/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borderBox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6FD5E5-54B9-9A11-3A80-AD66F956E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34" y="2441448"/>
                <a:ext cx="9937114" cy="3989618"/>
              </a:xfrm>
              <a:prstGeom prst="rect">
                <a:avLst/>
              </a:prstGeom>
              <a:blipFill>
                <a:blip r:embed="rId3"/>
                <a:stretch>
                  <a:fillRect l="-675" t="-6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677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1A0A23BE-CE05-ADF4-337D-8D7478F41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24998A-4318-44F2-A6C0-5EF897803054}"/>
              </a:ext>
            </a:extLst>
          </p:cNvPr>
          <p:cNvSpPr txBox="1"/>
          <p:nvPr/>
        </p:nvSpPr>
        <p:spPr>
          <a:xfrm>
            <a:off x="2157984" y="1780776"/>
            <a:ext cx="7672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lang="en-IN" sz="2400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CE350D-D8FC-0D81-C21A-B588ABEDD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142327"/>
              </p:ext>
            </p:extLst>
          </p:nvPr>
        </p:nvGraphicFramePr>
        <p:xfrm>
          <a:off x="1240536" y="2512440"/>
          <a:ext cx="10335768" cy="21031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445256">
                  <a:extLst>
                    <a:ext uri="{9D8B030D-6E8A-4147-A177-3AD203B41FA5}">
                      <a16:colId xmlns:a16="http://schemas.microsoft.com/office/drawing/2014/main" val="2947102579"/>
                    </a:ext>
                  </a:extLst>
                </a:gridCol>
                <a:gridCol w="3445256">
                  <a:extLst>
                    <a:ext uri="{9D8B030D-6E8A-4147-A177-3AD203B41FA5}">
                      <a16:colId xmlns:a16="http://schemas.microsoft.com/office/drawing/2014/main" val="2948964875"/>
                    </a:ext>
                  </a:extLst>
                </a:gridCol>
                <a:gridCol w="3445256">
                  <a:extLst>
                    <a:ext uri="{9D8B030D-6E8A-4147-A177-3AD203B41FA5}">
                      <a16:colId xmlns:a16="http://schemas.microsoft.com/office/drawing/2014/main" val="3665772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38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Substitution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Θ((log n)²)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12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Iteration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Stepwise expansion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Θ((log n)²)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495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Θ((log n)²)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669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Master Theorem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directly applicable in basic 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6837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F6C644-BB63-7F49-E0C7-B5E0E8B7D5CD}"/>
              </a:ext>
            </a:extLst>
          </p:cNvPr>
          <p:cNvSpPr txBox="1"/>
          <p:nvPr/>
        </p:nvSpPr>
        <p:spPr>
          <a:xfrm>
            <a:off x="1158240" y="4615560"/>
            <a:ext cx="6094476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clearly reveals recursive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verify each mathematical step.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intuition behind recurrence solving.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the same complexity as iteration.</a:t>
            </a:r>
          </a:p>
        </p:txBody>
      </p:sp>
    </p:spTree>
    <p:extLst>
      <p:ext uri="{BB962C8B-B14F-4D97-AF65-F5344CB8AC3E}">
        <p14:creationId xmlns:p14="http://schemas.microsoft.com/office/powerpoint/2010/main" val="32156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328BC-97C7-A695-8E05-25C27707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2B93AAC7-ED09-B20D-43AB-B0C080D1E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9BD0EB-48A7-BE87-0AD8-5159021239FC}"/>
              </a:ext>
            </a:extLst>
          </p:cNvPr>
          <p:cNvSpPr txBox="1"/>
          <p:nvPr/>
        </p:nvSpPr>
        <p:spPr>
          <a:xfrm>
            <a:off x="341279" y="1376516"/>
            <a:ext cx="1107112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1AB1A-D299-556B-5F6D-72FC4B498343}"/>
              </a:ext>
            </a:extLst>
          </p:cNvPr>
          <p:cNvSpPr txBox="1"/>
          <p:nvPr/>
        </p:nvSpPr>
        <p:spPr>
          <a:xfrm>
            <a:off x="1127443" y="2121408"/>
            <a:ext cx="993711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of divide-and-conquer algorithms that repeatedly divide the input into smaller subproblems.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searching and hierarchical processing algorithms where input size decreases exponentially.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 of binary recursive procedures used in computer science and software engineering.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recursive mathematical algorithms that involve logarithmic computations at each stage.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algorithm design courses to understand recurrence solving techniques and asymptotic analysis.</a:t>
            </a:r>
          </a:p>
        </p:txBody>
      </p:sp>
    </p:spTree>
    <p:extLst>
      <p:ext uri="{BB962C8B-B14F-4D97-AF65-F5344CB8AC3E}">
        <p14:creationId xmlns:p14="http://schemas.microsoft.com/office/powerpoint/2010/main" val="57379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A45C-7CCE-6CF1-B9D5-46DC4786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966F1B23-62C2-6430-B6CE-89CEF7EF6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5579AD-86C5-8B7A-CA5A-3F1C5ECDF16F}"/>
              </a:ext>
            </a:extLst>
          </p:cNvPr>
          <p:cNvSpPr txBox="1"/>
          <p:nvPr/>
        </p:nvSpPr>
        <p:spPr>
          <a:xfrm>
            <a:off x="825911" y="1533832"/>
            <a:ext cx="1107112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2E3360-994C-C8BC-F3D1-CAB5F611C851}"/>
                  </a:ext>
                </a:extLst>
              </p:cNvPr>
              <p:cNvSpPr txBox="1"/>
              <p:nvPr/>
            </p:nvSpPr>
            <p:spPr>
              <a:xfrm>
                <a:off x="779971" y="2204662"/>
                <a:ext cx="10632058" cy="4191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Recursive expansion shows that the number of recursive calls increases only logarithmically with the input size. 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recursive level contributes a logarithmic computational cost, resulting in a predictable summation pattern. 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simplification confirms that the total execution time grows proportionally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/>
                        </m:ctrlPr>
                      </m:sSupPr>
                      <m:e>
                        <m:d>
                          <m:dPr>
                            <m:ctrlPr>
                              <a:rPr lang="en-IN"/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IN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/>
                                  <m:t>log</m:t>
                                </m:r>
                              </m:fName>
                              <m:e>
                                <m:r>
                                  <a:rPr lang="en-IN" i="1"/>
                                  <m:t>𝑛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IN"/>
                          <m:t>2</m:t>
                        </m:r>
                      </m:sup>
                    </m:sSup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Compared to linear or quadratic algorithms, this recurrence demonstrates significantly better scalability. 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substitution method successfully verifies both the correctness of the recurrence solution and the efficiency of the algorithm.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2E3360-994C-C8BC-F3D1-CAB5F611C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71" y="2204662"/>
                <a:ext cx="10632058" cy="4191981"/>
              </a:xfrm>
              <a:prstGeom prst="rect">
                <a:avLst/>
              </a:prstGeom>
              <a:blipFill>
                <a:blip r:embed="rId3"/>
                <a:stretch>
                  <a:fillRect l="-516" r="-573" b="-17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364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7D526-B6C5-7C4E-8E19-387BD51A1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D37976A1-E699-21E4-FA3D-E102C1B2B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3BF57F-832F-B7C4-82E6-81AA54DD8E0D}"/>
              </a:ext>
            </a:extLst>
          </p:cNvPr>
          <p:cNvSpPr txBox="1"/>
          <p:nvPr/>
        </p:nvSpPr>
        <p:spPr>
          <a:xfrm>
            <a:off x="221276" y="1636776"/>
            <a:ext cx="5939028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substitution method systematically expands the recurrence.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simplification reveals the summation pattern.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time complexity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Θ((log n)²)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provides clear proof of algorithm efficiency.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divide-and-conquer recurrences.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9C5F9-F052-6173-ACC2-9335A2C8969E}"/>
              </a:ext>
            </a:extLst>
          </p:cNvPr>
          <p:cNvSpPr txBox="1"/>
          <p:nvPr/>
        </p:nvSpPr>
        <p:spPr>
          <a:xfrm>
            <a:off x="6160304" y="1499616"/>
            <a:ext cx="591892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H.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Charles E.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Ronald L. Rivest, Clifford Stein,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4th Edition, MIT Press.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Ellis Horowitz, Sartaj Sahni,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Sanguthevar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Rajasekaran,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Alfred V. Aho, John E. Hopcroft, Jeffrey D. Ullman,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and Analysis of Computer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Donald E. Knuth,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Art of Computer Programming, Volume 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49797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B168D-7DE5-3031-BC40-EAFF16AA5495}"/>
              </a:ext>
            </a:extLst>
          </p:cNvPr>
          <p:cNvSpPr txBox="1"/>
          <p:nvPr/>
        </p:nvSpPr>
        <p:spPr>
          <a:xfrm>
            <a:off x="3716593" y="2598003"/>
            <a:ext cx="475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06018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802</Words>
  <Application>Microsoft Office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N.kishan Kumar</dc:creator>
  <cp:lastModifiedBy>sameerahmedg666@gmail.com</cp:lastModifiedBy>
  <cp:revision>5</cp:revision>
  <dcterms:created xsi:type="dcterms:W3CDTF">2026-07-15T02:38:18Z</dcterms:created>
  <dcterms:modified xsi:type="dcterms:W3CDTF">2026-07-22T16:54:50Z</dcterms:modified>
</cp:coreProperties>
</file>